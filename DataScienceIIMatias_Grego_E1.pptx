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Anton"/>
      <p:regular r:id="rId17"/>
    </p:embeddedFont>
    <p:embeddedFont>
      <p:font typeface="Helvetica Neue"/>
      <p:regular r:id="rId18"/>
      <p:bold r:id="rId19"/>
      <p:italic r:id="rId20"/>
      <p:boldItalic r:id="rId21"/>
    </p:embeddedFont>
    <p:embeddedFont>
      <p:font typeface="Helvetica Neue Light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italic.fntdata"/><Relationship Id="rId22" Type="http://schemas.openxmlformats.org/officeDocument/2006/relationships/font" Target="fonts/HelveticaNeueLight-regular.fntdata"/><Relationship Id="rId21" Type="http://schemas.openxmlformats.org/officeDocument/2006/relationships/font" Target="fonts/HelveticaNeue-boldItalic.fntdata"/><Relationship Id="rId24" Type="http://schemas.openxmlformats.org/officeDocument/2006/relationships/font" Target="fonts/HelveticaNeueLight-italic.fntdata"/><Relationship Id="rId23" Type="http://schemas.openxmlformats.org/officeDocument/2006/relationships/font" Target="fonts/HelveticaNeueLight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5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nton-regular.fntdata"/><Relationship Id="rId16" Type="http://schemas.openxmlformats.org/officeDocument/2006/relationships/slide" Target="slides/slide11.xml"/><Relationship Id="rId19" Type="http://schemas.openxmlformats.org/officeDocument/2006/relationships/font" Target="fonts/HelveticaNeue-bold.fntdata"/><Relationship Id="rId18" Type="http://schemas.openxmlformats.org/officeDocument/2006/relationships/font" Target="fonts/HelveticaNeue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65ff5ddf5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g3965ff5ddf5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965ff5ddf5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65ff5ddf5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965ff5ddf5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965ff5ddf5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965ff5ddf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965ff5ddf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965ff5ddf5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5ff5ddf5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965ff5ddf5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965ff5ddf5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65ff5ddf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965ff5ddf5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965ff5ddf5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65ff5ddf5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965ff5ddf5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65ff5ddf5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Custom Layout">
  <p:cSld name="33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3_Custom Layout">
  <p:cSld name="33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81000" y="476098"/>
            <a:ext cx="8821738" cy="507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idx="2" type="body"/>
          </p:nvPr>
        </p:nvSpPr>
        <p:spPr>
          <a:xfrm>
            <a:off x="381000" y="983871"/>
            <a:ext cx="6745288" cy="4248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0" y="5787"/>
            <a:ext cx="12192000" cy="6858000"/>
          </a:xfrm>
          <a:prstGeom prst="rect">
            <a:avLst/>
          </a:prstGeom>
          <a:gradFill>
            <a:gsLst>
              <a:gs pos="0">
                <a:srgbClr val="01BAFF"/>
              </a:gs>
              <a:gs pos="100000">
                <a:srgbClr val="00F4FE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49250" y="2317283"/>
            <a:ext cx="11493500" cy="2223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F4FE"/>
              </a:gs>
              <a:gs pos="99000">
                <a:srgbClr val="08FA7B"/>
              </a:gs>
              <a:gs pos="100000">
                <a:srgbClr val="08FA7B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9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349250" y="2317283"/>
            <a:ext cx="11493500" cy="2223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8026400" y="2887579"/>
            <a:ext cx="4165600" cy="2935898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9_Custom Layout">
  <p:cSld name="39_Custom Layou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0_Custom Layout">
  <p:cSld name="40_Custom Layou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2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1_Custom Layout">
  <p:cSld name="41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0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444582" y="2220611"/>
            <a:ext cx="10857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latin typeface="Anton"/>
                <a:ea typeface="Anton"/>
                <a:cs typeface="Anton"/>
                <a:sym typeface="Anton"/>
              </a:rPr>
              <a:t>Análisis de viviendas</a:t>
            </a:r>
            <a:endParaRPr sz="6000">
              <a:latin typeface="Anton"/>
              <a:ea typeface="Anton"/>
              <a:cs typeface="Anton"/>
              <a:sym typeface="Anton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3000">
                <a:latin typeface="Helvetica Neue Light"/>
                <a:ea typeface="Helvetica Neue Light"/>
                <a:cs typeface="Helvetica Neue Light"/>
                <a:sym typeface="Helvetica Neue Light"/>
              </a:rPr>
              <a:t>¿Qué determina el precio de una vivienda?</a:t>
            </a:r>
            <a:endParaRPr sz="30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sz="29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i="0" lang="en-US" sz="2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AUTOR: </a:t>
            </a:r>
            <a:r>
              <a:rPr lang="en-US" sz="2900">
                <a:latin typeface="Helvetica Neue Light"/>
                <a:ea typeface="Helvetica Neue Light"/>
                <a:cs typeface="Helvetica Neue Light"/>
                <a:sym typeface="Helvetica Neue Light"/>
              </a:rPr>
              <a:t>Matias Grego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26"/>
          <p:cNvCxnSpPr/>
          <p:nvPr/>
        </p:nvCxnSpPr>
        <p:spPr>
          <a:xfrm>
            <a:off x="3238501" y="287524"/>
            <a:ext cx="13883" cy="623148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26"/>
          <p:cNvSpPr txBox="1"/>
          <p:nvPr/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384622" y="2758763"/>
            <a:ext cx="2718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Contexto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3583900" y="700741"/>
            <a:ext cx="8103900" cy="5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precio de las viviendas está determinado por múltiples factores, 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pero no siempre es claro cuáles son los más relevantes. Comprender estos factores permite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tomar mejores decisiones de compra;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optimizar inversiones inmobiliarias y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entender el comportamiento del mercado.</a:t>
            </a:r>
            <a:b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</a:b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Por esto, realizaremos un estudio para identificar que variables son más determinantes a la hora de elegir una vivienda.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27"/>
          <p:cNvCxnSpPr/>
          <p:nvPr/>
        </p:nvCxnSpPr>
        <p:spPr>
          <a:xfrm>
            <a:off x="3238501" y="287524"/>
            <a:ext cx="13800" cy="6231600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5" name="Google Shape;145;p27"/>
          <p:cNvSpPr txBox="1"/>
          <p:nvPr/>
        </p:nvSpPr>
        <p:spPr>
          <a:xfrm>
            <a:off x="11506202" y="6519009"/>
            <a:ext cx="685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7"/>
          <p:cNvSpPr txBox="1"/>
          <p:nvPr/>
        </p:nvSpPr>
        <p:spPr>
          <a:xfrm>
            <a:off x="384622" y="2758763"/>
            <a:ext cx="2718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/>
              <a:t>Objetivo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3583900" y="700741"/>
            <a:ext cx="8103900" cy="5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Objetivo del análisis: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Identificar las variables que tienen mayor impacto 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en el precio de las viviendas mediante análisis exploratorio de datos.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Audiencia: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- Inversores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- Agentes inmobiliarios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- Compradores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/>
          <p:nvPr/>
        </p:nvSpPr>
        <p:spPr>
          <a:xfrm>
            <a:off x="524063" y="1397483"/>
            <a:ext cx="1325563" cy="542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EFF"/>
              </a:buClr>
              <a:buSzPts val="4000"/>
              <a:buFont typeface="Anton"/>
              <a:buChar char="•"/>
            </a:pPr>
            <a:r>
              <a:rPr lang="en-US" sz="4000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i="0" lang="en-US" sz="4000" u="none" cap="none" strike="noStrike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01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1849625" y="1367050"/>
            <a:ext cx="5803500" cy="7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¿Cómo influye el tamaño de la propiedad en el precio?</a:t>
            </a:r>
            <a:endParaRPr i="0" sz="2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55" name="Google Shape;155;p28"/>
          <p:cNvCxnSpPr/>
          <p:nvPr/>
        </p:nvCxnSpPr>
        <p:spPr>
          <a:xfrm>
            <a:off x="1680082" y="1367048"/>
            <a:ext cx="0" cy="60326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6" name="Google Shape;156;p28"/>
          <p:cNvSpPr txBox="1"/>
          <p:nvPr/>
        </p:nvSpPr>
        <p:spPr>
          <a:xfrm>
            <a:off x="524063" y="2414359"/>
            <a:ext cx="1325563" cy="542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EFF"/>
              </a:buClr>
              <a:buSzPts val="4000"/>
              <a:buFont typeface="Anton"/>
              <a:buChar char="•"/>
            </a:pPr>
            <a:r>
              <a:rPr lang="en-US" sz="4000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i="0" lang="en-US" sz="4000" u="none" cap="none" strike="noStrike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02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1849627" y="3429000"/>
            <a:ext cx="4927686" cy="603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Metadata¿Qué zonas presentan precios más altos?</a:t>
            </a:r>
            <a:endParaRPr i="0" sz="2400" u="none" cap="none" strike="noStrik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cxnSp>
        <p:nvCxnSpPr>
          <p:cNvPr id="158" name="Google Shape;158;p28"/>
          <p:cNvCxnSpPr/>
          <p:nvPr/>
        </p:nvCxnSpPr>
        <p:spPr>
          <a:xfrm>
            <a:off x="1680082" y="2383924"/>
            <a:ext cx="0" cy="60326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28"/>
          <p:cNvSpPr txBox="1"/>
          <p:nvPr/>
        </p:nvSpPr>
        <p:spPr>
          <a:xfrm>
            <a:off x="524063" y="3429502"/>
            <a:ext cx="1325563" cy="5423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EFF"/>
              </a:buClr>
              <a:buSzPts val="4000"/>
              <a:buFont typeface="Anton"/>
              <a:buChar char="•"/>
            </a:pPr>
            <a:r>
              <a:rPr lang="en-US" sz="4000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i="0" lang="en-US" sz="4000" u="none" cap="none" strike="noStrike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03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60" name="Google Shape;160;p28"/>
          <p:cNvCxnSpPr/>
          <p:nvPr/>
        </p:nvCxnSpPr>
        <p:spPr>
          <a:xfrm>
            <a:off x="1680082" y="3399067"/>
            <a:ext cx="0" cy="60326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28"/>
          <p:cNvSpPr txBox="1"/>
          <p:nvPr/>
        </p:nvSpPr>
        <p:spPr>
          <a:xfrm>
            <a:off x="388629" y="431801"/>
            <a:ext cx="7637771" cy="5520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3600">
                <a:latin typeface="Anton"/>
                <a:ea typeface="Anton"/>
                <a:cs typeface="Anton"/>
                <a:sym typeface="Anton"/>
              </a:rPr>
              <a:t>Preguntas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1849627" y="4390358"/>
            <a:ext cx="4927672" cy="603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¿Existe relación entre antigüedad y precio?</a:t>
            </a:r>
            <a:endParaRPr i="0" sz="2800" u="none" cap="none" strike="noStrik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524070" y="4445135"/>
            <a:ext cx="13257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540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8EFF"/>
              </a:buClr>
              <a:buSzPts val="4000"/>
              <a:buFont typeface="Anton"/>
              <a:buChar char="•"/>
            </a:pPr>
            <a:r>
              <a:rPr lang="en-US" sz="4000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i="0" lang="en-US" sz="4000" u="none" cap="none" strike="noStrike">
                <a:solidFill>
                  <a:srgbClr val="008EFF"/>
                </a:solidFill>
                <a:latin typeface="Anton"/>
                <a:ea typeface="Anton"/>
                <a:cs typeface="Anton"/>
                <a:sym typeface="Anton"/>
              </a:rPr>
              <a:t>04</a:t>
            </a:r>
            <a:endParaRPr>
              <a:latin typeface="Anton"/>
              <a:ea typeface="Anton"/>
              <a:cs typeface="Anton"/>
              <a:sym typeface="Anton"/>
            </a:endParaRPr>
          </a:p>
        </p:txBody>
      </p:sp>
      <p:cxnSp>
        <p:nvCxnSpPr>
          <p:cNvPr id="164" name="Google Shape;164;p28"/>
          <p:cNvCxnSpPr/>
          <p:nvPr/>
        </p:nvCxnSpPr>
        <p:spPr>
          <a:xfrm>
            <a:off x="1680082" y="4414712"/>
            <a:ext cx="0" cy="60326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p28"/>
          <p:cNvSpPr txBox="1"/>
          <p:nvPr/>
        </p:nvSpPr>
        <p:spPr>
          <a:xfrm>
            <a:off x="1849626" y="2353489"/>
            <a:ext cx="4927687" cy="6032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¿La cantidad de habitaciones impacta significativamente en el valo</a:t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1" name="Google Shape;171;p29"/>
          <p:cNvCxnSpPr/>
          <p:nvPr/>
        </p:nvCxnSpPr>
        <p:spPr>
          <a:xfrm>
            <a:off x="3238501" y="287524"/>
            <a:ext cx="13883" cy="6231485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2" name="Google Shape;172;p29"/>
          <p:cNvSpPr txBox="1"/>
          <p:nvPr/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9"/>
          <p:cNvSpPr txBox="1"/>
          <p:nvPr/>
        </p:nvSpPr>
        <p:spPr>
          <a:xfrm>
            <a:off x="384622" y="2758763"/>
            <a:ext cx="2718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Dataset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9"/>
          <p:cNvSpPr/>
          <p:nvPr/>
        </p:nvSpPr>
        <p:spPr>
          <a:xfrm>
            <a:off x="3583900" y="1005522"/>
            <a:ext cx="8103900" cy="46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Dataset de viviendas (California Housing)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 Light"/>
              <a:buChar char="●"/>
            </a:pPr>
            <a:r>
              <a:rPr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Filas aproximadas: 20.000 registros</a:t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 Light"/>
              <a:buChar char="●"/>
            </a:pPr>
            <a:r>
              <a:rPr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10 variables</a:t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elvetica Neue Light"/>
              <a:buChar char="●"/>
            </a:pPr>
            <a:r>
              <a:rPr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Datos numéricos y categóricos</a:t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Variable objetivo</a:t>
            </a:r>
            <a:endParaRPr b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median_house_value </a:t>
            </a:r>
            <a:r>
              <a:rPr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(precio de la vivienda)</a:t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/>
        </p:nvSpPr>
        <p:spPr>
          <a:xfrm>
            <a:off x="11506202" y="6519009"/>
            <a:ext cx="685798" cy="206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0"/>
          <p:cNvSpPr txBox="1"/>
          <p:nvPr/>
        </p:nvSpPr>
        <p:spPr>
          <a:xfrm>
            <a:off x="429592" y="2505670"/>
            <a:ext cx="10857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/>
              <a:t>EDA. Análisis</a:t>
            </a:r>
            <a:endParaRPr b="1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" name="Google Shape;187;p31"/>
          <p:cNvCxnSpPr/>
          <p:nvPr/>
        </p:nvCxnSpPr>
        <p:spPr>
          <a:xfrm>
            <a:off x="3238501" y="287524"/>
            <a:ext cx="13800" cy="6231600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8" name="Google Shape;188;p31"/>
          <p:cNvSpPr txBox="1"/>
          <p:nvPr/>
        </p:nvSpPr>
        <p:spPr>
          <a:xfrm>
            <a:off x="11506202" y="6519009"/>
            <a:ext cx="685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384622" y="2758763"/>
            <a:ext cx="27180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Hallazgos visuales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1"/>
          <p:cNvSpPr/>
          <p:nvPr/>
        </p:nvSpPr>
        <p:spPr>
          <a:xfrm>
            <a:off x="3583900" y="1005522"/>
            <a:ext cx="8103900" cy="46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Principales resultados del análisis:</a:t>
            </a:r>
            <a:endParaRPr i="1"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Relación positiva entre tamaño y precio (no determinante)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Fuerte relación entre ingreso medio y precio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- Diferencias claras de precio según ubicación</a:t>
            </a:r>
            <a:endParaRPr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idx="1" type="body"/>
          </p:nvPr>
        </p:nvSpPr>
        <p:spPr>
          <a:xfrm>
            <a:off x="381000" y="476098"/>
            <a:ext cx="8821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Precio vs Ingreso</a:t>
            </a:r>
            <a:endParaRPr/>
          </a:p>
        </p:txBody>
      </p:sp>
      <p:pic>
        <p:nvPicPr>
          <p:cNvPr id="197" name="Google Shape;19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0350" y="1462946"/>
            <a:ext cx="6670448" cy="5144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idx="1" type="body"/>
          </p:nvPr>
        </p:nvSpPr>
        <p:spPr>
          <a:xfrm>
            <a:off x="381000" y="476098"/>
            <a:ext cx="88218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Precio vs Ubicación</a:t>
            </a:r>
            <a:endParaRPr/>
          </a:p>
        </p:txBody>
      </p:sp>
      <p:pic>
        <p:nvPicPr>
          <p:cNvPr id="204" name="Google Shape;20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000" y="1120748"/>
            <a:ext cx="6366001" cy="5569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34"/>
          <p:cNvCxnSpPr/>
          <p:nvPr/>
        </p:nvCxnSpPr>
        <p:spPr>
          <a:xfrm>
            <a:off x="3238501" y="287524"/>
            <a:ext cx="13800" cy="6231600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1" name="Google Shape;211;p34"/>
          <p:cNvSpPr txBox="1"/>
          <p:nvPr/>
        </p:nvSpPr>
        <p:spPr>
          <a:xfrm>
            <a:off x="11506202" y="6519009"/>
            <a:ext cx="685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4"/>
          <p:cNvSpPr txBox="1"/>
          <p:nvPr/>
        </p:nvSpPr>
        <p:spPr>
          <a:xfrm>
            <a:off x="384622" y="2758763"/>
            <a:ext cx="2718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Insights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4"/>
          <p:cNvSpPr/>
          <p:nvPr/>
        </p:nvSpPr>
        <p:spPr>
          <a:xfrm>
            <a:off x="3583900" y="1005522"/>
            <a:ext cx="8103900" cy="46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3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Insights clave:</a:t>
            </a:r>
            <a:endParaRPr b="1" i="1" sz="3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0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i="1"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ingreso medio de la zona es el principal determinante del precio</a:t>
            </a:r>
            <a:endParaRPr i="1"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i="1"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 ubicación (especialmente cercanía a las costas) incrementa el valor</a:t>
            </a:r>
            <a:endParaRPr i="1"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i="1"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tamaño influye, pero no es el factor principal</a:t>
            </a:r>
            <a:endParaRPr i="1"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Helvetica Neue Light"/>
              <a:buChar char="●"/>
            </a:pPr>
            <a:r>
              <a:rPr i="1" lang="en-US" sz="29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precio es un fenómeno multifactorial</a:t>
            </a:r>
            <a:endParaRPr i="1" sz="29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35"/>
          <p:cNvCxnSpPr/>
          <p:nvPr/>
        </p:nvCxnSpPr>
        <p:spPr>
          <a:xfrm>
            <a:off x="3238501" y="287524"/>
            <a:ext cx="13800" cy="6231600"/>
          </a:xfrm>
          <a:prstGeom prst="straightConnector1">
            <a:avLst/>
          </a:prstGeom>
          <a:noFill/>
          <a:ln cap="flat" cmpd="sng" w="12700">
            <a:solidFill>
              <a:srgbClr val="00D703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0" name="Google Shape;220;p35"/>
          <p:cNvSpPr txBox="1"/>
          <p:nvPr/>
        </p:nvSpPr>
        <p:spPr>
          <a:xfrm>
            <a:off x="11506202" y="6519009"/>
            <a:ext cx="685800" cy="2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fld id="{00000000-1234-1234-1234-123412341234}" type="slidenum">
              <a:rPr b="0" i="0" lang="en-US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384622" y="2758763"/>
            <a:ext cx="27180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/>
              <a:t>Conclusión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5"/>
          <p:cNvSpPr/>
          <p:nvPr/>
        </p:nvSpPr>
        <p:spPr>
          <a:xfrm>
            <a:off x="3388175" y="1205375"/>
            <a:ext cx="8103900" cy="41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precio de las viviendas depende principalmente de factores </a:t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socioeconómicos y geográficos.</a:t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El ingreso medio y la ubicación son las variables más influyentes,</a:t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lo que permite orientar decisiones de inversión y compra.</a:t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2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Comprender estos factores mejora la toma de decisiones en el mercado inmobiliario</a:t>
            </a:r>
            <a:endParaRPr b="1" i="1" sz="2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_Office Theme">
  <a:themeElements>
    <a:clrScheme name="Pain Points Palete">
      <a:dk1>
        <a:srgbClr val="000000"/>
      </a:dk1>
      <a:lt1>
        <a:srgbClr val="FFFFFF"/>
      </a:lt1>
      <a:dk2>
        <a:srgbClr val="212745"/>
      </a:dk2>
      <a:lt2>
        <a:srgbClr val="B4DCFA"/>
      </a:lt2>
      <a:accent1>
        <a:srgbClr val="00F3FF"/>
      </a:accent1>
      <a:accent2>
        <a:srgbClr val="A100FF"/>
      </a:accent2>
      <a:accent3>
        <a:srgbClr val="380089"/>
      </a:accent3>
      <a:accent4>
        <a:srgbClr val="00D700"/>
      </a:accent4>
      <a:accent5>
        <a:srgbClr val="FF9500"/>
      </a:accent5>
      <a:accent6>
        <a:srgbClr val="008EFF"/>
      </a:accent6>
      <a:hlink>
        <a:srgbClr val="56C7AA"/>
      </a:hlink>
      <a:folHlink>
        <a:srgbClr val="59A8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